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88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21A8D-BFD0-4FFC-8636-50615696DD1E}" v="5" dt="2025-04-11T06:24:05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 suryawanshi" userId="cdce7460ae4265a3" providerId="LiveId" clId="{BE88CA66-9F94-4A79-99AB-688BCDB9AE17}"/>
    <pc:docChg chg="undo custSel addSld modSld">
      <pc:chgData name="ashwin suryawanshi" userId="cdce7460ae4265a3" providerId="LiveId" clId="{BE88CA66-9F94-4A79-99AB-688BCDB9AE17}" dt="2025-04-11T07:23:46.630" v="103" actId="20577"/>
      <pc:docMkLst>
        <pc:docMk/>
      </pc:docMkLst>
      <pc:sldChg chg="modSp mod">
        <pc:chgData name="ashwin suryawanshi" userId="cdce7460ae4265a3" providerId="LiveId" clId="{BE88CA66-9F94-4A79-99AB-688BCDB9AE17}" dt="2025-04-11T07:23:46.630" v="103" actId="20577"/>
        <pc:sldMkLst>
          <pc:docMk/>
          <pc:sldMk cId="1412088098" sldId="273"/>
        </pc:sldMkLst>
        <pc:spChg chg="mod">
          <ac:chgData name="ashwin suryawanshi" userId="cdce7460ae4265a3" providerId="LiveId" clId="{BE88CA66-9F94-4A79-99AB-688BCDB9AE17}" dt="2025-04-11T07:20:33.024" v="46" actId="20577"/>
          <ac:spMkLst>
            <pc:docMk/>
            <pc:sldMk cId="1412088098" sldId="273"/>
            <ac:spMk id="4" creationId="{C3ECB096-EEB2-ACD8-138A-1AD93BD78A6F}"/>
          </ac:spMkLst>
        </pc:spChg>
        <pc:spChg chg="mod">
          <ac:chgData name="ashwin suryawanshi" userId="cdce7460ae4265a3" providerId="LiveId" clId="{BE88CA66-9F94-4A79-99AB-688BCDB9AE17}" dt="2025-04-11T07:23:46.630" v="103" actId="20577"/>
          <ac:spMkLst>
            <pc:docMk/>
            <pc:sldMk cId="1412088098" sldId="273"/>
            <ac:spMk id="8" creationId="{6BFD98A0-76AF-0761-C53B-35F36E1A5928}"/>
          </ac:spMkLst>
        </pc:spChg>
      </pc:sldChg>
      <pc:sldChg chg="add">
        <pc:chgData name="ashwin suryawanshi" userId="cdce7460ae4265a3" providerId="LiveId" clId="{BE88CA66-9F94-4A79-99AB-688BCDB9AE17}" dt="2025-04-11T07:20:09.859" v="10" actId="2890"/>
        <pc:sldMkLst>
          <pc:docMk/>
          <pc:sldMk cId="850899965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E70F90-CEE0-63D8-3581-F96D8D47AD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3"/>
            <a:ext cx="9144000" cy="6857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87123D-7D86-BA48-E448-AB06CA4E0228}"/>
              </a:ext>
            </a:extLst>
          </p:cNvPr>
          <p:cNvSpPr txBox="1"/>
          <p:nvPr/>
        </p:nvSpPr>
        <p:spPr>
          <a:xfrm>
            <a:off x="779206" y="1686684"/>
            <a:ext cx="75855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pPr algn="ctr"/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A Deep Dive into Listings, Hosts, Neighborhoods &amp; Guest Trends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3A0A4-BD2D-F55F-4821-04DF493AECC8}"/>
              </a:ext>
            </a:extLst>
          </p:cNvPr>
          <p:cNvSpPr txBox="1"/>
          <p:nvPr/>
        </p:nvSpPr>
        <p:spPr>
          <a:xfrm>
            <a:off x="285136" y="639603"/>
            <a:ext cx="8858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4800" b="1" dirty="0">
                <a:solidFill>
                  <a:srgbClr val="C00000"/>
                </a:solidFill>
                <a:latin typeface="Berlin Sans FB Demi" panose="020E0802020502020306" pitchFamily="34" charset="0"/>
              </a:rPr>
              <a:t>Airbnb NYC 2019 Data Analysis</a:t>
            </a:r>
            <a:endParaRPr lang="en-IN" sz="4800" b="1" dirty="0">
              <a:solidFill>
                <a:srgbClr val="C00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6BE06-1FDC-EE6D-9460-6EEC8EA546A8}"/>
              </a:ext>
            </a:extLst>
          </p:cNvPr>
          <p:cNvSpPr txBox="1"/>
          <p:nvPr/>
        </p:nvSpPr>
        <p:spPr>
          <a:xfrm>
            <a:off x="393291" y="5849065"/>
            <a:ext cx="86425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US" sz="4200" dirty="0"/>
              <a:t>Presented by: </a:t>
            </a:r>
            <a:r>
              <a:rPr lang="en-US" sz="4200" dirty="0">
                <a:solidFill>
                  <a:schemeClr val="accent5">
                    <a:lumMod val="50000"/>
                  </a:schemeClr>
                </a:solidFill>
              </a:rPr>
              <a:t>Ashwin Suryawanshi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006F-0DDF-29F4-3ABF-4E8D6714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D30910-EFC2-0B7E-A7C2-98895F50CD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ECB096-EEB2-ACD8-138A-1AD93BD78A6F}"/>
              </a:ext>
            </a:extLst>
          </p:cNvPr>
          <p:cNvSpPr txBox="1"/>
          <p:nvPr/>
        </p:nvSpPr>
        <p:spPr>
          <a:xfrm>
            <a:off x="285136" y="639603"/>
            <a:ext cx="8858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pPr algn="ctr"/>
            <a:r>
              <a:rPr lang="en-US" dirty="0"/>
              <a:t>C</a:t>
            </a:r>
            <a:r>
              <a:rPr lang="en-IN" dirty="0" err="1"/>
              <a:t>ompany</a:t>
            </a:r>
            <a:r>
              <a:rPr lang="en-IN" dirty="0"/>
              <a:t>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D98A0-76AF-0761-C53B-35F36E1A5928}"/>
              </a:ext>
            </a:extLst>
          </p:cNvPr>
          <p:cNvSpPr txBox="1"/>
          <p:nvPr/>
        </p:nvSpPr>
        <p:spPr>
          <a:xfrm>
            <a:off x="58994" y="1633379"/>
            <a:ext cx="85540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Founded: </a:t>
            </a:r>
            <a:r>
              <a:rPr lang="en-IN" sz="2400" dirty="0"/>
              <a:t>2008, San Francisco, USA</a:t>
            </a:r>
          </a:p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Founders: </a:t>
            </a:r>
            <a:r>
              <a:rPr lang="en-IN" sz="2400" dirty="0"/>
              <a:t>Brian Chesky, Joe Gebbia, Nathan Blecharczyk</a:t>
            </a:r>
          </a:p>
          <a:p>
            <a:endParaRPr lang="en-IN" sz="2400" dirty="0"/>
          </a:p>
          <a:p>
            <a:r>
              <a:rPr lang="en-IN" sz="2400" dirty="0">
                <a:solidFill>
                  <a:srgbClr val="FF0000"/>
                </a:solidFill>
              </a:rPr>
              <a:t>Global Presence: </a:t>
            </a:r>
            <a:r>
              <a:rPr lang="en-IN" sz="2400" dirty="0"/>
              <a:t>220+ countries, 4M+ hosts, 1B+ guest arrivals</a:t>
            </a:r>
          </a:p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What Airbnb Does: </a:t>
            </a:r>
            <a:r>
              <a:rPr lang="en-IN" sz="2400" dirty="0"/>
              <a:t>Online marketplace for lodging &amp; travel experiences</a:t>
            </a:r>
          </a:p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Key Services:</a:t>
            </a:r>
          </a:p>
          <a:p>
            <a:pPr marL="0" indent="0">
              <a:buNone/>
            </a:pPr>
            <a:r>
              <a:rPr lang="en-IN" sz="2400" dirty="0"/>
              <a:t>      * Stays: Homes, apartments, boutique hotels</a:t>
            </a:r>
          </a:p>
          <a:p>
            <a:pPr marL="0" indent="0">
              <a:buNone/>
            </a:pPr>
            <a:r>
              <a:rPr lang="en-IN" sz="2400" dirty="0"/>
              <a:t>      * Experiences: Local tours, activities by hosts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1208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F6FDB-BC9B-6799-FD42-467E37E9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302A99-B0E6-DB1B-CD08-08A44508A9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5CE9CA-498D-6468-1882-A1A30EA3F51F}"/>
              </a:ext>
            </a:extLst>
          </p:cNvPr>
          <p:cNvSpPr txBox="1"/>
          <p:nvPr/>
        </p:nvSpPr>
        <p:spPr>
          <a:xfrm>
            <a:off x="285136" y="639603"/>
            <a:ext cx="88588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pPr algn="ctr"/>
            <a:r>
              <a:rPr lang="en-IN" dirty="0"/>
              <a:t>Project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50324-CF54-238C-DF31-48E0601CE67B}"/>
              </a:ext>
            </a:extLst>
          </p:cNvPr>
          <p:cNvSpPr txBox="1"/>
          <p:nvPr/>
        </p:nvSpPr>
        <p:spPr>
          <a:xfrm>
            <a:off x="0" y="3053648"/>
            <a:ext cx="93111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Objective: Explore and </a:t>
            </a: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</a:rPr>
              <a:t>analyze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 2019 Airbnb NYC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Understand listings by type &amp; </a:t>
            </a: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</a:rPr>
              <a:t>neighborhood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Identify top hosts &amp; guest trends.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Tools Used: Power BI, Excel.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Dataset: Inside Airbnb – 2019</a:t>
            </a:r>
          </a:p>
        </p:txBody>
      </p:sp>
    </p:spTree>
    <p:extLst>
      <p:ext uri="{BB962C8B-B14F-4D97-AF65-F5344CB8AC3E}">
        <p14:creationId xmlns:p14="http://schemas.microsoft.com/office/powerpoint/2010/main" val="85089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8071-DC35-030E-947D-5AB7E65E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AEB78-F1E8-13F8-4057-BEFC8DCF98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559AFC-22CD-5377-02F3-C4AD487417A0}"/>
              </a:ext>
            </a:extLst>
          </p:cNvPr>
          <p:cNvSpPr txBox="1"/>
          <p:nvPr/>
        </p:nvSpPr>
        <p:spPr>
          <a:xfrm>
            <a:off x="285136" y="639603"/>
            <a:ext cx="8858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pPr algn="ctr"/>
            <a:r>
              <a:rPr lang="en-IN" dirty="0"/>
              <a:t>Dataset Overview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D6E1B5-DD73-4728-3F95-73E49B681CF4}"/>
              </a:ext>
            </a:extLst>
          </p:cNvPr>
          <p:cNvSpPr txBox="1">
            <a:spLocks/>
          </p:cNvSpPr>
          <p:nvPr/>
        </p:nvSpPr>
        <p:spPr>
          <a:xfrm>
            <a:off x="285136" y="2858729"/>
            <a:ext cx="87703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Source: Inside Airbnb – NYC 2019</a:t>
            </a:r>
          </a:p>
          <a:p>
            <a:r>
              <a:rPr lang="en-US" dirty="0"/>
              <a:t>Time Period: March 2011 to June 2019</a:t>
            </a:r>
          </a:p>
          <a:p>
            <a:r>
              <a:rPr lang="en-US" dirty="0"/>
              <a:t>Total Listings: ~43,000</a:t>
            </a:r>
          </a:p>
          <a:p>
            <a:r>
              <a:rPr lang="en-US" dirty="0"/>
              <a:t>Key Columns: </a:t>
            </a:r>
            <a:r>
              <a:rPr lang="en-US" dirty="0" err="1"/>
              <a:t>room_type</a:t>
            </a:r>
            <a:r>
              <a:rPr lang="en-US" dirty="0"/>
              <a:t>, price, </a:t>
            </a:r>
            <a:r>
              <a:rPr lang="en-US" dirty="0" err="1"/>
              <a:t>reviews_per_month</a:t>
            </a:r>
            <a:r>
              <a:rPr lang="en-US" dirty="0"/>
              <a:t>, availability_365</a:t>
            </a:r>
          </a:p>
        </p:txBody>
      </p:sp>
    </p:spTree>
    <p:extLst>
      <p:ext uri="{BB962C8B-B14F-4D97-AF65-F5344CB8AC3E}">
        <p14:creationId xmlns:p14="http://schemas.microsoft.com/office/powerpoint/2010/main" val="380201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DDA03-125E-1ACC-CD4F-CC95FC183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E89A9-24A3-25A2-A54E-2778710D23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937D80-A534-AE82-3E93-042E2CE45B9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Room Type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35E1B4-5CA4-6D75-477B-87557F505512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Entire home/apt: 22.74K (~52%)</a:t>
            </a:r>
          </a:p>
          <a:p>
            <a:r>
              <a:rPr lang="en-US" dirty="0"/>
              <a:t>Private room: 20.22K (~46%)</a:t>
            </a:r>
          </a:p>
          <a:p>
            <a:r>
              <a:rPr lang="en-US" dirty="0"/>
              <a:t>Shared room: 1,074 (~2%)</a:t>
            </a:r>
          </a:p>
          <a:p>
            <a:r>
              <a:rPr lang="en-US" dirty="0"/>
              <a:t>Entire homes dominate, used like hotels.</a:t>
            </a:r>
          </a:p>
        </p:txBody>
      </p:sp>
    </p:spTree>
    <p:extLst>
      <p:ext uri="{BB962C8B-B14F-4D97-AF65-F5344CB8AC3E}">
        <p14:creationId xmlns:p14="http://schemas.microsoft.com/office/powerpoint/2010/main" val="54869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05FB-AF22-B55F-0B19-BD6C4D7C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C5DE01-CC0C-64AC-06C4-EAFD83B05A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7699105-2D8E-ABCF-A2B1-14D7E4F529EE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 err="1"/>
              <a:t>Neighborhood</a:t>
            </a:r>
            <a:r>
              <a:rPr lang="en-IN" dirty="0"/>
              <a:t> Group Distribution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FD86E7-45A3-904B-1000-14C702757C3E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IN" dirty="0"/>
              <a:t>Manhattan: 19,875 listings</a:t>
            </a:r>
          </a:p>
          <a:p>
            <a:r>
              <a:rPr lang="en-IN" dirty="0"/>
              <a:t>Brooklyn: 18,152</a:t>
            </a:r>
          </a:p>
          <a:p>
            <a:r>
              <a:rPr lang="en-IN" dirty="0"/>
              <a:t>Queens, Bronx, Staten Island: &lt;5,000</a:t>
            </a:r>
          </a:p>
          <a:p>
            <a:r>
              <a:rPr lang="en-IN" dirty="0"/>
              <a:t>Manhattan &amp; Brooklyn = ~89% of listings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73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7220-2107-5200-5F66-26467850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E1C166-52E0-BF79-F174-BBB9D78051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B9D3CE8-5ECB-6FD9-69F2-5D6D1B28E407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Room Type vs </a:t>
            </a:r>
            <a:r>
              <a:rPr lang="en-IN" dirty="0" err="1"/>
              <a:t>Neighborhood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011D897-2683-9F2C-860F-CEE4D7000FDE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Shared rooms are rare in Manhattan</a:t>
            </a:r>
          </a:p>
          <a:p>
            <a:r>
              <a:rPr lang="en-US" dirty="0"/>
              <a:t>Queens has more private rooms</a:t>
            </a:r>
          </a:p>
          <a:p>
            <a:r>
              <a:rPr lang="en-US" dirty="0"/>
              <a:t>Staten Island shows the least diversity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31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260F-0B42-CDA9-0614-08669DC7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7A261-A37E-C6A5-F645-9A377F04CB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3685675-39A2-46C3-DF1E-7DFC52F0F8C7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Host Insights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706667-A57F-1E83-046E-5FEF74ABBF2F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 Host: Michael (416 listings)</a:t>
            </a:r>
          </a:p>
          <a:p>
            <a:r>
              <a:rPr lang="en-US" dirty="0"/>
              <a:t>Other top hosts: David, Sonder, John</a:t>
            </a:r>
          </a:p>
          <a:p>
            <a:r>
              <a:rPr lang="en-US" dirty="0"/>
              <a:t>Commercial-style hosting observed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28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A93AF-F5F8-D865-A895-DAB3528D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A4E54-E4D9-8385-15BF-DD864D906C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789455-A392-118B-18A2-58AC2113329B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Host Presence Across Boroughs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093F65-D452-4884-44D7-0A0C4955BAFC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Michael active in all boroughs</a:t>
            </a:r>
          </a:p>
          <a:p>
            <a:r>
              <a:rPr lang="en-US" dirty="0"/>
              <a:t>Sonder focuses on Manhattan</a:t>
            </a:r>
          </a:p>
          <a:p>
            <a:r>
              <a:rPr lang="en-US" dirty="0"/>
              <a:t>Some hosts borough-specific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8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B892F-3098-E740-57EC-2EA04658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569D44-2600-7EDA-5796-497462FED2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6723AD6-CE15-EF7E-E732-51141C619FCC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Room Availability (Availability_365)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06E280-2B56-DD29-F52E-DC064385ADFC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Entire home/</a:t>
            </a:r>
            <a:r>
              <a:rPr lang="en-US" dirty="0" err="1"/>
              <a:t>apts</a:t>
            </a:r>
            <a:r>
              <a:rPr lang="en-US" dirty="0"/>
              <a:t> &amp; private rooms: 366</a:t>
            </a:r>
          </a:p>
          <a:p>
            <a:r>
              <a:rPr lang="en-US" dirty="0"/>
              <a:t>Shared rooms: ~232</a:t>
            </a:r>
          </a:p>
          <a:p>
            <a:r>
              <a:rPr lang="en-US" dirty="0"/>
              <a:t>Indicates flexible or seasonal renting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43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A129-E59F-D193-F630-4D5A7ED9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1AD86-01B1-88F4-BFFF-6222C7292A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B382F11-86DB-717C-C4D6-CEC7A0078B19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Review Patterns Over Time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490820-FDA8-9F43-8630-9C11FB558056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Peak reviews in June (801) &amp; July (830)</a:t>
            </a:r>
          </a:p>
          <a:p>
            <a:r>
              <a:rPr lang="en-US" dirty="0"/>
              <a:t>Lowest in August–November (&lt;160)</a:t>
            </a:r>
          </a:p>
          <a:p>
            <a:r>
              <a:rPr lang="en-US" dirty="0"/>
              <a:t> Tourist numbers spike in summer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3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91D4-AC01-861F-7289-0E6BB8C7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EBF823-E903-5BD3-4904-4C3571F1F6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2B02119-E703-29BA-8188-E1683144F87D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Reviews by Room Type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FBC59A-9895-0EA9-0C2E-2538135B77E0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Entire home/apartment: 25,345 reviews/month</a:t>
            </a:r>
          </a:p>
          <a:p>
            <a:r>
              <a:rPr lang="en-US" dirty="0"/>
              <a:t>Private room: 22,225</a:t>
            </a:r>
          </a:p>
          <a:p>
            <a:r>
              <a:rPr lang="en-US" dirty="0"/>
              <a:t>Shared room: 1,156</a:t>
            </a:r>
          </a:p>
          <a:p>
            <a:r>
              <a:rPr lang="en-US" dirty="0"/>
              <a:t>Entire homes reviewed more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58A7-8912-B9D8-3902-70A4F91E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721FD6-0446-0198-CA33-B2307331DD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8BECB12-A1B4-B40F-9F9A-3D91AC652033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Most Reviewed Property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09A69E-677F-D654-92A7-C6125236F598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Property: Room near JFK Queen Bed</a:t>
            </a:r>
          </a:p>
          <a:p>
            <a:r>
              <a:rPr lang="en-US" dirty="0"/>
              <a:t>Max reviews: ~830/month</a:t>
            </a:r>
          </a:p>
          <a:p>
            <a:r>
              <a:rPr lang="en-US" dirty="0"/>
              <a:t>Likely in Queens – close to JFK Airport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5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F3AA-0821-75D3-944A-BF45CCC2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2895CC-43D3-C9D0-CD2F-86F0932105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400DC65-163E-FAB6-6DA1-6D9A329B6422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Average Pricing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3E2A26-0EF2-6E6F-DF59-36F33FDF2D54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Average price: $160.21</a:t>
            </a:r>
          </a:p>
          <a:p>
            <a:r>
              <a:rPr lang="en-US" dirty="0"/>
              <a:t>Likely influenced by Manhattan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3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82761-9685-8137-C180-22C43220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C62D2F-FEC4-0CA5-BE97-5D87481F9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E6F8E72-AA0D-56D9-9F49-C5CC17FF4D96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Summary of Key Insights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265794-E578-AA52-0189-7B4460358B7E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Manhattan leads in listings &amp; hosts</a:t>
            </a:r>
          </a:p>
          <a:p>
            <a:r>
              <a:rPr lang="en-US" dirty="0"/>
              <a:t>Entire homes dominate listings</a:t>
            </a:r>
          </a:p>
          <a:p>
            <a:r>
              <a:rPr lang="en-US" dirty="0"/>
              <a:t>Seasonal review trends peak in summer</a:t>
            </a:r>
          </a:p>
          <a:p>
            <a:r>
              <a:rPr lang="en-US" dirty="0"/>
              <a:t>Michael is the top host</a:t>
            </a:r>
          </a:p>
          <a:p>
            <a:r>
              <a:rPr lang="en-US" dirty="0"/>
              <a:t>Commercial hosting is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030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3ABA-99B1-A717-0985-2342BCA5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0158D9-BC51-6F05-7E3D-D8471138C5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40A8854-1665-575B-9503-1C4384B5771D}"/>
              </a:ext>
            </a:extLst>
          </p:cNvPr>
          <p:cNvSpPr txBox="1">
            <a:spLocks/>
          </p:cNvSpPr>
          <p:nvPr/>
        </p:nvSpPr>
        <p:spPr>
          <a:xfrm>
            <a:off x="0" y="27463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IN" dirty="0"/>
              <a:t>Recommendations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859AAF-6DE8-9F89-2355-BB9CFDB75A30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Airbnb: Boost marketing in summer</a:t>
            </a:r>
          </a:p>
          <a:p>
            <a:r>
              <a:rPr lang="en-US" dirty="0"/>
              <a:t>Focus growth in Queens/Bronx</a:t>
            </a:r>
          </a:p>
          <a:p>
            <a:r>
              <a:rPr lang="en-US" dirty="0"/>
              <a:t>Tourists: Consider private rooms in outer boroughs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7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EA21-C46B-AFD1-19BE-C2F7953D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01ACF3-1392-4028-5CE4-CB1EAEB416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1"/>
            <a:ext cx="9144000" cy="68579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DF2CB88-14E6-749F-1475-15BB0BA4C448}"/>
              </a:ext>
            </a:extLst>
          </p:cNvPr>
          <p:cNvSpPr txBox="1">
            <a:spLocks/>
          </p:cNvSpPr>
          <p:nvPr/>
        </p:nvSpPr>
        <p:spPr>
          <a:xfrm>
            <a:off x="0" y="1513503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C0000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en-US" sz="6000" dirty="0"/>
              <a:t>Thankyou</a:t>
            </a:r>
            <a:endParaRPr lang="en-IN" sz="6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4F450-C3CA-F98D-E024-FE830F750675}"/>
              </a:ext>
            </a:extLst>
          </p:cNvPr>
          <p:cNvSpPr txBox="1">
            <a:spLocks/>
          </p:cNvSpPr>
          <p:nvPr/>
        </p:nvSpPr>
        <p:spPr>
          <a:xfrm>
            <a:off x="142568" y="2681748"/>
            <a:ext cx="90014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800" b="1">
                <a:solidFill>
                  <a:schemeClr val="accent5">
                    <a:lumMod val="50000"/>
                  </a:schemeClr>
                </a:solidFill>
                <a:latin typeface="Berlin Sans FB Demi" panose="020E0802020502020306" pitchFamily="34" charset="0"/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Linkedin</a:t>
            </a:r>
            <a:r>
              <a:rPr lang="en-US" dirty="0"/>
              <a:t>: https://www.linkedin.com/in/ashwin-suryawanshi-817682170/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: https://github.com/engineerash13/Labmentix_Internship_Projects</a:t>
            </a:r>
          </a:p>
        </p:txBody>
      </p:sp>
    </p:spTree>
    <p:extLst>
      <p:ext uri="{BB962C8B-B14F-4D97-AF65-F5344CB8AC3E}">
        <p14:creationId xmlns:p14="http://schemas.microsoft.com/office/powerpoint/2010/main" val="1792204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494</Words>
  <Application>Microsoft Office PowerPoint</Application>
  <PresentationFormat>On-screen Show (4:3)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ashwin suryawanshi</dc:creator>
  <cp:keywords/>
  <dc:description>generated using python-pptx</dc:description>
  <cp:lastModifiedBy>ashwin suryawanshi</cp:lastModifiedBy>
  <cp:revision>2</cp:revision>
  <dcterms:created xsi:type="dcterms:W3CDTF">2013-01-27T09:14:16Z</dcterms:created>
  <dcterms:modified xsi:type="dcterms:W3CDTF">2025-04-11T07:23:52Z</dcterms:modified>
  <cp:category/>
</cp:coreProperties>
</file>